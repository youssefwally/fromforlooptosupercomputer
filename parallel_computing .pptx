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>
        <p:scale>
          <a:sx n="130" d="100"/>
          <a:sy n="130" d="100"/>
        </p:scale>
        <p:origin x="1144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69761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oussef.m.wally@uit.no?subject=Parallel%20Computing%20-%20RS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" name="Shape 1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" name="Shape 2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" name="Shape 3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6" name="Shape 4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7" name="Shape 5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Shape 6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9" name="Shape 7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0" name="Shape 8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1" name="Shape 9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2" name="Shape 10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3" name="Shape 11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9525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5" name="Text 13"/>
          <p:cNvSpPr/>
          <p:nvPr/>
        </p:nvSpPr>
        <p:spPr>
          <a:xfrm>
            <a:off x="502920" y="1005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 Computing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502920" y="182880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Youssef Wally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502920" y="256032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8" name="Text 16"/>
          <p:cNvSpPr/>
          <p:nvPr/>
        </p:nvSpPr>
        <p:spPr>
          <a:xfrm>
            <a:off x="502920" y="25603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SISD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28800" y="256032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0" name="Text 18"/>
          <p:cNvSpPr/>
          <p:nvPr/>
        </p:nvSpPr>
        <p:spPr>
          <a:xfrm>
            <a:off x="1828800" y="25603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54680" y="256032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2" name="Text 20"/>
          <p:cNvSpPr/>
          <p:nvPr/>
        </p:nvSpPr>
        <p:spPr>
          <a:xfrm>
            <a:off x="3154680" y="25603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480560" y="2560320"/>
            <a:ext cx="1143000" cy="292608"/>
          </a:xfrm>
          <a:prstGeom prst="roundRect">
            <a:avLst>
              <a:gd name="adj" fmla="val 25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4" name="Text 22"/>
          <p:cNvSpPr/>
          <p:nvPr/>
        </p:nvSpPr>
        <p:spPr>
          <a:xfrm>
            <a:off x="4480560" y="25603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youssef.m.wally@uit.no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isContent="1" isInverted="1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0F6F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CPU vs GPU — Know Your Hardware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680960" y="22860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" name="Text 2"/>
          <p:cNvSpPr/>
          <p:nvPr/>
        </p:nvSpPr>
        <p:spPr>
          <a:xfrm>
            <a:off x="7680960" y="228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0D1117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hape 4"/>
          <p:cNvSpPr/>
          <p:nvPr/>
        </p:nvSpPr>
        <p:spPr>
          <a:xfrm>
            <a:off x="274320" y="944290"/>
            <a:ext cx="4069080" cy="3749040"/>
          </a:xfrm>
          <a:prstGeom prst="rect">
            <a:avLst/>
          </a:prstGeom>
          <a:solidFill>
            <a:srgbClr val="161B22"/>
          </a:solidFill>
          <a:ln w="19050">
            <a:solidFill>
              <a:srgbClr val="3B82F6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7" name="Shape 5"/>
          <p:cNvSpPr/>
          <p:nvPr/>
        </p:nvSpPr>
        <p:spPr>
          <a:xfrm>
            <a:off x="274320" y="944290"/>
            <a:ext cx="54864" cy="374904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7" name="Shape 15"/>
          <p:cNvSpPr/>
          <p:nvPr/>
        </p:nvSpPr>
        <p:spPr>
          <a:xfrm>
            <a:off x="475487" y="2737015"/>
            <a:ext cx="3097752" cy="271169"/>
          </a:xfrm>
          <a:prstGeom prst="rect">
            <a:avLst/>
          </a:prstGeom>
          <a:solidFill>
            <a:srgbClr val="0A335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O" dirty="0"/>
          </a:p>
        </p:txBody>
      </p:sp>
      <p:sp>
        <p:nvSpPr>
          <p:cNvPr id="18" name="Text 16"/>
          <p:cNvSpPr/>
          <p:nvPr/>
        </p:nvSpPr>
        <p:spPr>
          <a:xfrm>
            <a:off x="475488" y="2737015"/>
            <a:ext cx="3097752" cy="2711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L3 Cache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491809" y="1089906"/>
            <a:ext cx="3081430" cy="1559037"/>
          </a:xfrm>
          <a:prstGeom prst="rect">
            <a:avLst/>
          </a:prstGeom>
          <a:solidFill>
            <a:srgbClr val="0D2137"/>
          </a:solidFill>
          <a:ln w="1905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9" name="Shape 7"/>
          <p:cNvSpPr/>
          <p:nvPr/>
        </p:nvSpPr>
        <p:spPr>
          <a:xfrm>
            <a:off x="627282" y="1168111"/>
            <a:ext cx="1290254" cy="600445"/>
          </a:xfrm>
          <a:prstGeom prst="rect">
            <a:avLst/>
          </a:prstGeom>
          <a:solidFill>
            <a:srgbClr val="1C4A6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0" name="Text 8"/>
          <p:cNvSpPr/>
          <p:nvPr/>
        </p:nvSpPr>
        <p:spPr>
          <a:xfrm>
            <a:off x="627282" y="1168111"/>
            <a:ext cx="1290254" cy="600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Core 1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145228" y="1168111"/>
            <a:ext cx="1290254" cy="600445"/>
          </a:xfrm>
          <a:prstGeom prst="rect">
            <a:avLst/>
          </a:prstGeom>
          <a:solidFill>
            <a:srgbClr val="1C4A6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2" name="Text 10"/>
          <p:cNvSpPr/>
          <p:nvPr/>
        </p:nvSpPr>
        <p:spPr>
          <a:xfrm>
            <a:off x="2145228" y="1168111"/>
            <a:ext cx="1290254" cy="600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Core 2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7282" y="1942879"/>
            <a:ext cx="1290254" cy="600445"/>
          </a:xfrm>
          <a:prstGeom prst="rect">
            <a:avLst/>
          </a:prstGeom>
          <a:solidFill>
            <a:srgbClr val="1C4A6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4" name="Text 12"/>
          <p:cNvSpPr/>
          <p:nvPr/>
        </p:nvSpPr>
        <p:spPr>
          <a:xfrm>
            <a:off x="627282" y="1942879"/>
            <a:ext cx="1290254" cy="600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Core 3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145228" y="1942879"/>
            <a:ext cx="1290254" cy="600445"/>
          </a:xfrm>
          <a:prstGeom prst="rect">
            <a:avLst/>
          </a:prstGeom>
          <a:solidFill>
            <a:srgbClr val="1C4A6E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6" name="Text 14"/>
          <p:cNvSpPr/>
          <p:nvPr/>
        </p:nvSpPr>
        <p:spPr>
          <a:xfrm>
            <a:off x="2145228" y="1942879"/>
            <a:ext cx="1290254" cy="600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Consolas" pitchFamily="34" charset="0"/>
                <a:ea typeface="Consolas" pitchFamily="34" charset="-122"/>
                <a:cs typeface="Consolas" pitchFamily="34" charset="-120"/>
              </a:rPr>
              <a:t>Core 4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75487" y="3067332"/>
            <a:ext cx="3097752" cy="2120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8B949E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14460" y="971722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3B82F6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CPU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85320" y="3279353"/>
            <a:ext cx="1248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0F6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4–64 powerful cores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75488" y="3941408"/>
            <a:ext cx="124840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0F6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Optimised for serial,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0F6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complex tasks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905336" y="3279353"/>
            <a:ext cx="2272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0F6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Large cache + branch</a:t>
            </a: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0F6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prediction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905336" y="3949913"/>
            <a:ext cx="227258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0F6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OS, logic, I/O,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0F6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general programs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800600" y="944290"/>
            <a:ext cx="4069080" cy="3749040"/>
          </a:xfrm>
          <a:prstGeom prst="rect">
            <a:avLst/>
          </a:prstGeom>
          <a:solidFill>
            <a:srgbClr val="161B22"/>
          </a:solidFill>
          <a:ln w="19050">
            <a:solidFill>
              <a:srgbClr val="A78BFA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31" name="Shape 29"/>
          <p:cNvSpPr/>
          <p:nvPr/>
        </p:nvSpPr>
        <p:spPr>
          <a:xfrm>
            <a:off x="4800600" y="944290"/>
            <a:ext cx="54864" cy="374904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grpSp>
        <p:nvGrpSpPr>
          <p:cNvPr id="87" name="Group 86">
            <a:extLst>
              <a:ext uri="{FF2B5EF4-FFF2-40B4-BE49-F238E27FC236}">
                <a16:creationId xmlns:a16="http://schemas.microsoft.com/office/drawing/2014/main" id="{7C1FACB2-0E2A-6098-646F-FBB4A021B987}"/>
              </a:ext>
            </a:extLst>
          </p:cNvPr>
          <p:cNvGrpSpPr/>
          <p:nvPr/>
        </p:nvGrpSpPr>
        <p:grpSpPr>
          <a:xfrm>
            <a:off x="4961357" y="1089905"/>
            <a:ext cx="3124888" cy="2189447"/>
            <a:chOff x="4961357" y="1089906"/>
            <a:chExt cx="2103120" cy="1673180"/>
          </a:xfrm>
        </p:grpSpPr>
        <p:sp>
          <p:nvSpPr>
            <p:cNvPr id="32" name="Shape 30"/>
            <p:cNvSpPr/>
            <p:nvPr/>
          </p:nvSpPr>
          <p:spPr>
            <a:xfrm>
              <a:off x="4973648" y="1089906"/>
              <a:ext cx="2020824" cy="1398688"/>
            </a:xfrm>
            <a:prstGeom prst="rect">
              <a:avLst/>
            </a:prstGeom>
            <a:solidFill>
              <a:srgbClr val="150D24"/>
            </a:solidFill>
            <a:ln w="190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33" name="Shape 31"/>
            <p:cNvSpPr/>
            <p:nvPr/>
          </p:nvSpPr>
          <p:spPr>
            <a:xfrm>
              <a:off x="5029200" y="1145458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34" name="Shape 32"/>
            <p:cNvSpPr/>
            <p:nvPr/>
          </p:nvSpPr>
          <p:spPr>
            <a:xfrm>
              <a:off x="5271516" y="1145458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35" name="Shape 33"/>
            <p:cNvSpPr/>
            <p:nvPr/>
          </p:nvSpPr>
          <p:spPr>
            <a:xfrm>
              <a:off x="5513832" y="1145458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36" name="Shape 34"/>
            <p:cNvSpPr/>
            <p:nvPr/>
          </p:nvSpPr>
          <p:spPr>
            <a:xfrm>
              <a:off x="5756148" y="1145458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37" name="Shape 35"/>
            <p:cNvSpPr/>
            <p:nvPr/>
          </p:nvSpPr>
          <p:spPr>
            <a:xfrm>
              <a:off x="5998464" y="1145458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38" name="Shape 36"/>
            <p:cNvSpPr/>
            <p:nvPr/>
          </p:nvSpPr>
          <p:spPr>
            <a:xfrm>
              <a:off x="6240780" y="1145458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39" name="Shape 37"/>
            <p:cNvSpPr/>
            <p:nvPr/>
          </p:nvSpPr>
          <p:spPr>
            <a:xfrm>
              <a:off x="6483096" y="1145458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40" name="Shape 38"/>
            <p:cNvSpPr/>
            <p:nvPr/>
          </p:nvSpPr>
          <p:spPr>
            <a:xfrm>
              <a:off x="6725412" y="1145458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41" name="Shape 39"/>
            <p:cNvSpPr/>
            <p:nvPr/>
          </p:nvSpPr>
          <p:spPr>
            <a:xfrm>
              <a:off x="5029200" y="1410634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42" name="Shape 40"/>
            <p:cNvSpPr/>
            <p:nvPr/>
          </p:nvSpPr>
          <p:spPr>
            <a:xfrm>
              <a:off x="5271516" y="1410634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43" name="Shape 41"/>
            <p:cNvSpPr/>
            <p:nvPr/>
          </p:nvSpPr>
          <p:spPr>
            <a:xfrm>
              <a:off x="5513832" y="1410634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44" name="Shape 42"/>
            <p:cNvSpPr/>
            <p:nvPr/>
          </p:nvSpPr>
          <p:spPr>
            <a:xfrm>
              <a:off x="5756148" y="1410634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45" name="Shape 43"/>
            <p:cNvSpPr/>
            <p:nvPr/>
          </p:nvSpPr>
          <p:spPr>
            <a:xfrm>
              <a:off x="5998464" y="1410634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46" name="Shape 44"/>
            <p:cNvSpPr/>
            <p:nvPr/>
          </p:nvSpPr>
          <p:spPr>
            <a:xfrm>
              <a:off x="6240780" y="1410634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47" name="Shape 45"/>
            <p:cNvSpPr/>
            <p:nvPr/>
          </p:nvSpPr>
          <p:spPr>
            <a:xfrm>
              <a:off x="6483096" y="1410634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48" name="Shape 46"/>
            <p:cNvSpPr/>
            <p:nvPr/>
          </p:nvSpPr>
          <p:spPr>
            <a:xfrm>
              <a:off x="6725412" y="1410634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49" name="Shape 47"/>
            <p:cNvSpPr/>
            <p:nvPr/>
          </p:nvSpPr>
          <p:spPr>
            <a:xfrm>
              <a:off x="5029200" y="1675810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50" name="Shape 48"/>
            <p:cNvSpPr/>
            <p:nvPr/>
          </p:nvSpPr>
          <p:spPr>
            <a:xfrm>
              <a:off x="5271516" y="1675810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51" name="Shape 49"/>
            <p:cNvSpPr/>
            <p:nvPr/>
          </p:nvSpPr>
          <p:spPr>
            <a:xfrm>
              <a:off x="5513832" y="1675810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52" name="Shape 50"/>
            <p:cNvSpPr/>
            <p:nvPr/>
          </p:nvSpPr>
          <p:spPr>
            <a:xfrm>
              <a:off x="5756148" y="1675810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53" name="Shape 51"/>
            <p:cNvSpPr/>
            <p:nvPr/>
          </p:nvSpPr>
          <p:spPr>
            <a:xfrm>
              <a:off x="5998464" y="1675810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54" name="Shape 52"/>
            <p:cNvSpPr/>
            <p:nvPr/>
          </p:nvSpPr>
          <p:spPr>
            <a:xfrm>
              <a:off x="6240780" y="1675810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55" name="Shape 53"/>
            <p:cNvSpPr/>
            <p:nvPr/>
          </p:nvSpPr>
          <p:spPr>
            <a:xfrm>
              <a:off x="6483096" y="1675810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56" name="Shape 54"/>
            <p:cNvSpPr/>
            <p:nvPr/>
          </p:nvSpPr>
          <p:spPr>
            <a:xfrm>
              <a:off x="6725412" y="1675810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57" name="Shape 55"/>
            <p:cNvSpPr/>
            <p:nvPr/>
          </p:nvSpPr>
          <p:spPr>
            <a:xfrm>
              <a:off x="5029200" y="1940986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58" name="Shape 56"/>
            <p:cNvSpPr/>
            <p:nvPr/>
          </p:nvSpPr>
          <p:spPr>
            <a:xfrm>
              <a:off x="5271516" y="1940986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59" name="Shape 57"/>
            <p:cNvSpPr/>
            <p:nvPr/>
          </p:nvSpPr>
          <p:spPr>
            <a:xfrm>
              <a:off x="5513832" y="1940986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60" name="Shape 58"/>
            <p:cNvSpPr/>
            <p:nvPr/>
          </p:nvSpPr>
          <p:spPr>
            <a:xfrm>
              <a:off x="5756148" y="1940986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61" name="Shape 59"/>
            <p:cNvSpPr/>
            <p:nvPr/>
          </p:nvSpPr>
          <p:spPr>
            <a:xfrm>
              <a:off x="5998464" y="1940986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62" name="Shape 60"/>
            <p:cNvSpPr/>
            <p:nvPr/>
          </p:nvSpPr>
          <p:spPr>
            <a:xfrm>
              <a:off x="6240780" y="1940986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63" name="Shape 61"/>
            <p:cNvSpPr/>
            <p:nvPr/>
          </p:nvSpPr>
          <p:spPr>
            <a:xfrm>
              <a:off x="6483096" y="1940986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64" name="Shape 62"/>
            <p:cNvSpPr/>
            <p:nvPr/>
          </p:nvSpPr>
          <p:spPr>
            <a:xfrm>
              <a:off x="6725412" y="1940986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65" name="Shape 63"/>
            <p:cNvSpPr/>
            <p:nvPr/>
          </p:nvSpPr>
          <p:spPr>
            <a:xfrm>
              <a:off x="5029200" y="2206162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66" name="Shape 64"/>
            <p:cNvSpPr/>
            <p:nvPr/>
          </p:nvSpPr>
          <p:spPr>
            <a:xfrm>
              <a:off x="5271516" y="2206162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67" name="Shape 65"/>
            <p:cNvSpPr/>
            <p:nvPr/>
          </p:nvSpPr>
          <p:spPr>
            <a:xfrm>
              <a:off x="5513832" y="2206162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68" name="Shape 66"/>
            <p:cNvSpPr/>
            <p:nvPr/>
          </p:nvSpPr>
          <p:spPr>
            <a:xfrm>
              <a:off x="5756148" y="2206162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69" name="Shape 67"/>
            <p:cNvSpPr/>
            <p:nvPr/>
          </p:nvSpPr>
          <p:spPr>
            <a:xfrm>
              <a:off x="5998464" y="2206162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70" name="Shape 68"/>
            <p:cNvSpPr/>
            <p:nvPr/>
          </p:nvSpPr>
          <p:spPr>
            <a:xfrm>
              <a:off x="6240780" y="2206162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71" name="Shape 69"/>
            <p:cNvSpPr/>
            <p:nvPr/>
          </p:nvSpPr>
          <p:spPr>
            <a:xfrm>
              <a:off x="6483096" y="2206162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72" name="Shape 70"/>
            <p:cNvSpPr/>
            <p:nvPr/>
          </p:nvSpPr>
          <p:spPr>
            <a:xfrm>
              <a:off x="6725412" y="2206162"/>
              <a:ext cx="201168" cy="201168"/>
            </a:xfrm>
            <a:prstGeom prst="rect">
              <a:avLst/>
            </a:prstGeom>
            <a:solidFill>
              <a:srgbClr val="3D1F6E"/>
            </a:solidFill>
            <a:ln w="6350">
              <a:solidFill>
                <a:srgbClr val="A78BFA"/>
              </a:solidFill>
              <a:prstDash val="solid"/>
            </a:ln>
          </p:spPr>
          <p:txBody>
            <a:bodyPr/>
            <a:lstStyle/>
            <a:p>
              <a:endParaRPr lang="en-NO"/>
            </a:p>
          </p:txBody>
        </p:sp>
        <p:sp>
          <p:nvSpPr>
            <p:cNvPr id="74" name="Text 72"/>
            <p:cNvSpPr/>
            <p:nvPr/>
          </p:nvSpPr>
          <p:spPr>
            <a:xfrm>
              <a:off x="4961357" y="2561918"/>
              <a:ext cx="210312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8B949E"/>
                  </a:solidFill>
                  <a:effectLst/>
                  <a:uLnTx/>
                  <a:uFillTx/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GPU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75" name="Text 73"/>
          <p:cNvSpPr/>
          <p:nvPr/>
        </p:nvSpPr>
        <p:spPr>
          <a:xfrm>
            <a:off x="7744771" y="971722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1" i="0" u="none" strike="noStrike" kern="1200" cap="none" spc="0" normalizeH="0" baseline="0" noProof="0" dirty="0">
                <a:ln>
                  <a:noFill/>
                </a:ln>
                <a:solidFill>
                  <a:srgbClr val="A78BFA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GPU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8" name="Text 76"/>
          <p:cNvSpPr/>
          <p:nvPr/>
        </p:nvSpPr>
        <p:spPr>
          <a:xfrm>
            <a:off x="4969787" y="3279353"/>
            <a:ext cx="1367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0F6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1000s of small cores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6513968" y="3282105"/>
            <a:ext cx="225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0F6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Optimised for massively</a:t>
            </a:r>
            <a:r>
              <a:rPr lang="en-US" sz="1100" dirty="0">
                <a:solidFill>
                  <a:prstClr val="black"/>
                </a:solidFill>
                <a:latin typeface="Calibri" panose="020F0502020204030204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0F6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parallel tasks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4800600" y="3941408"/>
            <a:ext cx="183334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0F6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Built to render millions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0F6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of pixels at once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4" name="Text 82"/>
          <p:cNvSpPr/>
          <p:nvPr/>
        </p:nvSpPr>
        <p:spPr>
          <a:xfrm>
            <a:off x="6541654" y="3943522"/>
            <a:ext cx="2254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0F6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ML training, images,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F0F6F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matrix math, sims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isContent="1" isInverted="1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Flynn's Taxonomy (1966)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680960" y="22860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" name="Text 2"/>
          <p:cNvSpPr/>
          <p:nvPr/>
        </p:nvSpPr>
        <p:spPr>
          <a:xfrm>
            <a:off x="7680960" y="228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computing system can be classified by how it handles Instructions and Data streams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60520" cy="178308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7" name="Shape 5"/>
          <p:cNvSpPr/>
          <p:nvPr/>
        </p:nvSpPr>
        <p:spPr>
          <a:xfrm>
            <a:off x="274320" y="1188720"/>
            <a:ext cx="54864" cy="178308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Shape 6"/>
          <p:cNvSpPr/>
          <p:nvPr/>
        </p:nvSpPr>
        <p:spPr>
          <a:xfrm>
            <a:off x="411480" y="129844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9" name="Text 7"/>
          <p:cNvSpPr/>
          <p:nvPr/>
        </p:nvSpPr>
        <p:spPr>
          <a:xfrm>
            <a:off x="411480" y="1298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417320" y="1280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Instruction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Data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90195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processor, one data stream.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sequential programs.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25786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Your Python for-loop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188720"/>
            <a:ext cx="4160520" cy="1783080"/>
          </a:xfrm>
          <a:prstGeom prst="rect">
            <a:avLst/>
          </a:prstGeom>
          <a:solidFill>
            <a:srgbClr val="161B22"/>
          </a:solidFill>
          <a:ln w="19050">
            <a:solidFill>
              <a:srgbClr val="FACC15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14" name="Shape 12"/>
          <p:cNvSpPr/>
          <p:nvPr/>
        </p:nvSpPr>
        <p:spPr>
          <a:xfrm>
            <a:off x="4754880" y="1188720"/>
            <a:ext cx="54864" cy="178308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5" name="Shape 13"/>
          <p:cNvSpPr/>
          <p:nvPr/>
        </p:nvSpPr>
        <p:spPr>
          <a:xfrm>
            <a:off x="4892040" y="129844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6" name="Text 14"/>
          <p:cNvSpPr/>
          <p:nvPr/>
        </p:nvSpPr>
        <p:spPr>
          <a:xfrm>
            <a:off x="4892040" y="12984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97880" y="128016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Instruction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Data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92040" y="190195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op applied to many data.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GPUs, AVX vector intrinsics.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92040" y="25786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ACC1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GPUs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4160520" cy="1783080"/>
          </a:xfrm>
          <a:prstGeom prst="rect">
            <a:avLst/>
          </a:prstGeom>
          <a:solidFill>
            <a:srgbClr val="161B22"/>
          </a:solidFill>
          <a:ln w="19050">
            <a:solidFill>
              <a:srgbClr val="A78BFA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21" name="Shape 19"/>
          <p:cNvSpPr/>
          <p:nvPr/>
        </p:nvSpPr>
        <p:spPr>
          <a:xfrm>
            <a:off x="274320" y="3154680"/>
            <a:ext cx="54864" cy="17830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2" name="Shape 20"/>
          <p:cNvSpPr/>
          <p:nvPr/>
        </p:nvSpPr>
        <p:spPr>
          <a:xfrm>
            <a:off x="411480" y="326440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3" name="Text 21"/>
          <p:cNvSpPr/>
          <p:nvPr/>
        </p:nvSpPr>
        <p:spPr>
          <a:xfrm>
            <a:off x="411480" y="32644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417320" y="3246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Instruction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Data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1480" y="386791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ops, same data.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— fault-tolerant pipelines.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754880" y="3154680"/>
            <a:ext cx="4160520" cy="1783080"/>
          </a:xfrm>
          <a:prstGeom prst="rect">
            <a:avLst/>
          </a:prstGeom>
          <a:solidFill>
            <a:srgbClr val="161B22"/>
          </a:solidFill>
          <a:ln w="19050">
            <a:solidFill>
              <a:srgbClr val="4ADE8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28" name="Shape 26"/>
          <p:cNvSpPr/>
          <p:nvPr/>
        </p:nvSpPr>
        <p:spPr>
          <a:xfrm>
            <a:off x="4754880" y="3154680"/>
            <a:ext cx="54864" cy="178308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9" name="Shape 27"/>
          <p:cNvSpPr/>
          <p:nvPr/>
        </p:nvSpPr>
        <p:spPr>
          <a:xfrm>
            <a:off x="4892040" y="326440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0" name="Text 28"/>
          <p:cNvSpPr/>
          <p:nvPr/>
        </p:nvSpPr>
        <p:spPr>
          <a:xfrm>
            <a:off x="4892040" y="326440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MIMD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897880" y="3246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Instruction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Data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92040" y="3867912"/>
            <a:ext cx="3886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processors, many data.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modern parallel systems.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892040" y="454456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e.g. OpenMP, MPI, multiprocessing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SISD — Sequential Processing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680960" y="22860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" name="Text 2"/>
          <p:cNvSpPr/>
          <p:nvPr/>
        </p:nvSpPr>
        <p:spPr>
          <a:xfrm>
            <a:off x="7680960" y="228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3566160" cy="676656"/>
          </a:xfrm>
          <a:prstGeom prst="rect">
            <a:avLst/>
          </a:prstGeom>
          <a:solidFill>
            <a:srgbClr val="161B22"/>
          </a:solidFill>
          <a:ln w="19050">
            <a:solidFill>
              <a:srgbClr val="21262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6" name="Text 4"/>
          <p:cNvSpPr/>
          <p:nvPr/>
        </p:nvSpPr>
        <p:spPr>
          <a:xfrm>
            <a:off x="411480" y="1234440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1234440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CPU core does all the work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274320" y="1993392"/>
            <a:ext cx="3566160" cy="676656"/>
          </a:xfrm>
          <a:prstGeom prst="rect">
            <a:avLst/>
          </a:prstGeom>
          <a:solidFill>
            <a:srgbClr val="161B22"/>
          </a:solidFill>
          <a:ln w="19050">
            <a:solidFill>
              <a:srgbClr val="21262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9" name="Text 7"/>
          <p:cNvSpPr/>
          <p:nvPr/>
        </p:nvSpPr>
        <p:spPr>
          <a:xfrm>
            <a:off x="411480" y="2039112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039112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processed one at a time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274320" y="2798064"/>
            <a:ext cx="3566160" cy="676656"/>
          </a:xfrm>
          <a:prstGeom prst="rect">
            <a:avLst/>
          </a:prstGeom>
          <a:solidFill>
            <a:srgbClr val="161B22"/>
          </a:solidFill>
          <a:ln w="19050">
            <a:solidFill>
              <a:srgbClr val="21262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12" name="Text 10"/>
          <p:cNvSpPr/>
          <p:nvPr/>
        </p:nvSpPr>
        <p:spPr>
          <a:xfrm>
            <a:off x="411480" y="2843784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22960" y="2843784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process_img() blocks until done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74320" y="3602736"/>
            <a:ext cx="3566160" cy="676656"/>
          </a:xfrm>
          <a:prstGeom prst="rect">
            <a:avLst/>
          </a:prstGeom>
          <a:solidFill>
            <a:srgbClr val="161B22"/>
          </a:solidFill>
          <a:ln w="19050">
            <a:solidFill>
              <a:srgbClr val="21262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15" name="Text 13"/>
          <p:cNvSpPr/>
          <p:nvPr/>
        </p:nvSpPr>
        <p:spPr>
          <a:xfrm>
            <a:off x="411480" y="3648456"/>
            <a:ext cx="3840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949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822960" y="3648456"/>
            <a:ext cx="28346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Throughput: 1× — the baseline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4160520" y="1115568"/>
            <a:ext cx="4663440" cy="340156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18" name="Shape 16"/>
          <p:cNvSpPr/>
          <p:nvPr/>
        </p:nvSpPr>
        <p:spPr>
          <a:xfrm>
            <a:off x="7543800" y="1115568"/>
            <a:ext cx="128016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9" name="Text 17"/>
          <p:cNvSpPr/>
          <p:nvPr/>
        </p:nvSpPr>
        <p:spPr>
          <a:xfrm>
            <a:off x="7543800" y="1124712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— SISD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325112" y="1408176"/>
            <a:ext cx="4370832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Single Instruction, Single Data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process_img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(image, data):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your logic here ...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SISD loop: one sample at a time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samples: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image, data = sample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process_img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(image, data)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617720"/>
            <a:ext cx="8595360" cy="347472"/>
          </a:xfrm>
          <a:prstGeom prst="rect">
            <a:avLst/>
          </a:prstGeom>
          <a:solidFill>
            <a:srgbClr val="161B22"/>
          </a:solidFill>
          <a:ln w="19050">
            <a:solidFill>
              <a:srgbClr val="21262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22" name="Text 20"/>
          <p:cNvSpPr/>
          <p:nvPr/>
        </p:nvSpPr>
        <p:spPr>
          <a:xfrm>
            <a:off x="411480" y="4663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Execution Timeline: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331720" y="4663440"/>
            <a:ext cx="114300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4" name="Text 22"/>
          <p:cNvSpPr/>
          <p:nvPr/>
        </p:nvSpPr>
        <p:spPr>
          <a:xfrm>
            <a:off x="2331720" y="46634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sample[0]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93592" y="4663440"/>
            <a:ext cx="1143000" cy="2560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6" name="Text 24"/>
          <p:cNvSpPr/>
          <p:nvPr/>
        </p:nvSpPr>
        <p:spPr>
          <a:xfrm>
            <a:off x="3593592" y="46634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sample[1]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55464" y="4663440"/>
            <a:ext cx="1143000" cy="25603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8" name="Text 26"/>
          <p:cNvSpPr/>
          <p:nvPr/>
        </p:nvSpPr>
        <p:spPr>
          <a:xfrm>
            <a:off x="4855464" y="46634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sample[2]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17336" y="4663440"/>
            <a:ext cx="1143000" cy="256032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0" name="Text 28"/>
          <p:cNvSpPr/>
          <p:nvPr/>
        </p:nvSpPr>
        <p:spPr>
          <a:xfrm>
            <a:off x="6117336" y="46634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1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sample[3]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79208" y="4663440"/>
            <a:ext cx="1143000" cy="256032"/>
          </a:xfrm>
          <a:prstGeom prst="rect">
            <a:avLst/>
          </a:prstGeom>
          <a:solidFill>
            <a:srgbClr val="444C56"/>
          </a:solidFill>
          <a:ln w="12700">
            <a:solidFill>
              <a:srgbClr val="444C5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2" name="Text 30"/>
          <p:cNvSpPr/>
          <p:nvPr/>
        </p:nvSpPr>
        <p:spPr>
          <a:xfrm>
            <a:off x="7379208" y="466344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SIMD &amp; MISD — A Quick Look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680960" y="22860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" name="Text 2"/>
          <p:cNvSpPr/>
          <p:nvPr/>
        </p:nvSpPr>
        <p:spPr>
          <a:xfrm>
            <a:off x="7680960" y="228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Today's Focus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4160520" cy="3246120"/>
          </a:xfrm>
          <a:prstGeom prst="rect">
            <a:avLst/>
          </a:prstGeom>
          <a:solidFill>
            <a:srgbClr val="161B22"/>
          </a:solidFill>
          <a:ln w="19050">
            <a:solidFill>
              <a:srgbClr val="FACC15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6" name="Shape 4"/>
          <p:cNvSpPr/>
          <p:nvPr/>
        </p:nvSpPr>
        <p:spPr>
          <a:xfrm>
            <a:off x="274320" y="1234440"/>
            <a:ext cx="54864" cy="3246120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7" name="Shape 5"/>
          <p:cNvSpPr/>
          <p:nvPr/>
        </p:nvSpPr>
        <p:spPr>
          <a:xfrm>
            <a:off x="457200" y="134416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6"/>
          <p:cNvSpPr/>
          <p:nvPr/>
        </p:nvSpPr>
        <p:spPr>
          <a:xfrm>
            <a:off x="457200" y="1344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463040" y="13075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Instruction, Multiple Data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783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operation is applied to many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elements simultaneously — in hardware.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" y="2468880"/>
            <a:ext cx="3867912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12" name="Shape 10"/>
          <p:cNvSpPr/>
          <p:nvPr/>
        </p:nvSpPr>
        <p:spPr>
          <a:xfrm>
            <a:off x="3015885" y="2468880"/>
            <a:ext cx="128016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3" name="Text 11"/>
          <p:cNvSpPr/>
          <p:nvPr/>
        </p:nvSpPr>
        <p:spPr>
          <a:xfrm>
            <a:off x="3154680" y="2478024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— SIMD (NumPy)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38912" y="2761488"/>
            <a:ext cx="3867912" cy="15361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NumPy uses SIMD under the hood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(AVX/SSE CPU vector instructions)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numpy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pixels = 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np.array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bright = pixels * 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1.2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09160" y="1234440"/>
            <a:ext cx="4160520" cy="3246120"/>
          </a:xfrm>
          <a:prstGeom prst="rect">
            <a:avLst/>
          </a:prstGeom>
          <a:solidFill>
            <a:srgbClr val="161B22"/>
          </a:solidFill>
          <a:ln w="19050">
            <a:solidFill>
              <a:srgbClr val="A78BFA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16" name="Shape 14"/>
          <p:cNvSpPr/>
          <p:nvPr/>
        </p:nvSpPr>
        <p:spPr>
          <a:xfrm>
            <a:off x="4709160" y="1234440"/>
            <a:ext cx="54864" cy="324612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7" name="Shape 15"/>
          <p:cNvSpPr/>
          <p:nvPr/>
        </p:nvSpPr>
        <p:spPr>
          <a:xfrm>
            <a:off x="4892040" y="134416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8" name="Text 16"/>
          <p:cNvSpPr/>
          <p:nvPr/>
        </p:nvSpPr>
        <p:spPr>
          <a:xfrm>
            <a:off x="4892040" y="134416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897880" y="130759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Multiple Instruction, Single Data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17830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operations run on the same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— mostly theoretical / safety-critical.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468880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Fault-tolerant flight computers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892040" y="2944368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Shuttle: 5 computers running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different code on the same sensor data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892040" y="3419856"/>
            <a:ext cx="3840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2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seen in everyday software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For the rest of this tutorial, we focus on MIMD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MIMD — Divide &amp; Conquer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680960" y="22860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" name="Text 2"/>
          <p:cNvSpPr/>
          <p:nvPr/>
        </p:nvSpPr>
        <p:spPr>
          <a:xfrm>
            <a:off x="7680960" y="228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the samples list across workers — each independently runs process_img()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1737360" cy="2560320"/>
          </a:xfrm>
          <a:prstGeom prst="rect">
            <a:avLst/>
          </a:prstGeom>
          <a:solidFill>
            <a:srgbClr val="161B22"/>
          </a:solidFill>
          <a:ln w="19050">
            <a:solidFill>
              <a:srgbClr val="3B82F6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7" name="Text 5"/>
          <p:cNvSpPr/>
          <p:nvPr/>
        </p:nvSpPr>
        <p:spPr>
          <a:xfrm>
            <a:off x="274320" y="11887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1463040" cy="210312"/>
          </a:xfrm>
          <a:prstGeom prst="rect">
            <a:avLst/>
          </a:prstGeom>
          <a:solidFill>
            <a:srgbClr val="1C2B3A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9" name="Text 7"/>
          <p:cNvSpPr/>
          <p:nvPr/>
        </p:nvSpPr>
        <p:spPr>
          <a:xfrm>
            <a:off x="411480" y="162763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s[0]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1463040" cy="210312"/>
          </a:xfrm>
          <a:prstGeom prst="rect">
            <a:avLst/>
          </a:prstGeom>
          <a:solidFill>
            <a:srgbClr val="162030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1" name="Text 9"/>
          <p:cNvSpPr/>
          <p:nvPr/>
        </p:nvSpPr>
        <p:spPr>
          <a:xfrm>
            <a:off x="411480" y="187452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s[1]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121408"/>
            <a:ext cx="1463040" cy="210312"/>
          </a:xfrm>
          <a:prstGeom prst="rect">
            <a:avLst/>
          </a:prstGeom>
          <a:solidFill>
            <a:srgbClr val="1C2B3A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3" name="Text 11"/>
          <p:cNvSpPr/>
          <p:nvPr/>
        </p:nvSpPr>
        <p:spPr>
          <a:xfrm>
            <a:off x="411480" y="212140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s[2]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1480" y="2368296"/>
            <a:ext cx="1463040" cy="210312"/>
          </a:xfrm>
          <a:prstGeom prst="rect">
            <a:avLst/>
          </a:prstGeom>
          <a:solidFill>
            <a:srgbClr val="162030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5" name="Text 13"/>
          <p:cNvSpPr/>
          <p:nvPr/>
        </p:nvSpPr>
        <p:spPr>
          <a:xfrm>
            <a:off x="411480" y="2368296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s[3]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615184"/>
            <a:ext cx="1463040" cy="210312"/>
          </a:xfrm>
          <a:prstGeom prst="rect">
            <a:avLst/>
          </a:prstGeom>
          <a:solidFill>
            <a:srgbClr val="1C2B3A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7" name="Text 15"/>
          <p:cNvSpPr/>
          <p:nvPr/>
        </p:nvSpPr>
        <p:spPr>
          <a:xfrm>
            <a:off x="411480" y="2615184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s[4]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2862072"/>
            <a:ext cx="1463040" cy="210312"/>
          </a:xfrm>
          <a:prstGeom prst="rect">
            <a:avLst/>
          </a:prstGeom>
          <a:solidFill>
            <a:srgbClr val="162030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9" name="Text 17"/>
          <p:cNvSpPr/>
          <p:nvPr/>
        </p:nvSpPr>
        <p:spPr>
          <a:xfrm>
            <a:off x="411480" y="2862072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s[5]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11480" y="3108960"/>
            <a:ext cx="1463040" cy="210312"/>
          </a:xfrm>
          <a:prstGeom prst="rect">
            <a:avLst/>
          </a:prstGeom>
          <a:solidFill>
            <a:srgbClr val="1C2B3A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1" name="Text 19"/>
          <p:cNvSpPr/>
          <p:nvPr/>
        </p:nvSpPr>
        <p:spPr>
          <a:xfrm>
            <a:off x="411480" y="3108960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s[6]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11480" y="3355848"/>
            <a:ext cx="1463040" cy="210312"/>
          </a:xfrm>
          <a:prstGeom prst="rect">
            <a:avLst/>
          </a:prstGeom>
          <a:solidFill>
            <a:srgbClr val="162030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3" name="Text 21"/>
          <p:cNvSpPr/>
          <p:nvPr/>
        </p:nvSpPr>
        <p:spPr>
          <a:xfrm>
            <a:off x="411480" y="3355848"/>
            <a:ext cx="14630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s[7]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011680" y="2468880"/>
            <a:ext cx="4572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5" name="Shape 23"/>
          <p:cNvSpPr/>
          <p:nvPr/>
        </p:nvSpPr>
        <p:spPr>
          <a:xfrm>
            <a:off x="2651760" y="1115568"/>
            <a:ext cx="2331720" cy="731520"/>
          </a:xfrm>
          <a:prstGeom prst="rect">
            <a:avLst/>
          </a:prstGeom>
          <a:solidFill>
            <a:srgbClr val="161B22"/>
          </a:solidFill>
          <a:ln w="19050">
            <a:solidFill>
              <a:srgbClr val="4ADE8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26" name="Shape 24"/>
          <p:cNvSpPr/>
          <p:nvPr/>
        </p:nvSpPr>
        <p:spPr>
          <a:xfrm>
            <a:off x="2651760" y="1115568"/>
            <a:ext cx="54864" cy="7315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7" name="Text 25"/>
          <p:cNvSpPr/>
          <p:nvPr/>
        </p:nvSpPr>
        <p:spPr>
          <a:xfrm>
            <a:off x="2788920" y="11704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0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788920" y="14813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s[0], s[4]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83480" y="1481328"/>
            <a:ext cx="457200" cy="0"/>
          </a:xfrm>
          <a:prstGeom prst="line">
            <a:avLst/>
          </a:prstGeom>
          <a:noFill/>
          <a:ln w="19050">
            <a:solidFill>
              <a:srgbClr val="444C5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0" name="Shape 28"/>
          <p:cNvSpPr/>
          <p:nvPr/>
        </p:nvSpPr>
        <p:spPr>
          <a:xfrm>
            <a:off x="5440680" y="1207008"/>
            <a:ext cx="1554480" cy="548640"/>
          </a:xfrm>
          <a:prstGeom prst="rect">
            <a:avLst/>
          </a:prstGeom>
          <a:solidFill>
            <a:srgbClr val="161B22"/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31" name="Text 29"/>
          <p:cNvSpPr/>
          <p:nvPr/>
        </p:nvSpPr>
        <p:spPr>
          <a:xfrm>
            <a:off x="5440680" y="12070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process_img()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51760" y="2029968"/>
            <a:ext cx="2331720" cy="731520"/>
          </a:xfrm>
          <a:prstGeom prst="rect">
            <a:avLst/>
          </a:prstGeom>
          <a:solidFill>
            <a:srgbClr val="161B22"/>
          </a:solidFill>
          <a:ln w="19050">
            <a:solidFill>
              <a:srgbClr val="4ADE8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33" name="Shape 31"/>
          <p:cNvSpPr/>
          <p:nvPr/>
        </p:nvSpPr>
        <p:spPr>
          <a:xfrm>
            <a:off x="2651760" y="2029968"/>
            <a:ext cx="54864" cy="7315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4" name="Text 32"/>
          <p:cNvSpPr/>
          <p:nvPr/>
        </p:nvSpPr>
        <p:spPr>
          <a:xfrm>
            <a:off x="2788920" y="20848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1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788920" y="23957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s[1], s[5]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83480" y="2395728"/>
            <a:ext cx="457200" cy="0"/>
          </a:xfrm>
          <a:prstGeom prst="line">
            <a:avLst/>
          </a:prstGeom>
          <a:noFill/>
          <a:ln w="19050">
            <a:solidFill>
              <a:srgbClr val="444C5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7" name="Shape 35"/>
          <p:cNvSpPr/>
          <p:nvPr/>
        </p:nvSpPr>
        <p:spPr>
          <a:xfrm>
            <a:off x="5440680" y="2121408"/>
            <a:ext cx="1554480" cy="548640"/>
          </a:xfrm>
          <a:prstGeom prst="rect">
            <a:avLst/>
          </a:prstGeom>
          <a:solidFill>
            <a:srgbClr val="161B22"/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38" name="Text 36"/>
          <p:cNvSpPr/>
          <p:nvPr/>
        </p:nvSpPr>
        <p:spPr>
          <a:xfrm>
            <a:off x="5440680" y="21214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process_img()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2651760" y="2944368"/>
            <a:ext cx="2331720" cy="731520"/>
          </a:xfrm>
          <a:prstGeom prst="rect">
            <a:avLst/>
          </a:prstGeom>
          <a:solidFill>
            <a:srgbClr val="161B22"/>
          </a:solidFill>
          <a:ln w="19050">
            <a:solidFill>
              <a:srgbClr val="4ADE8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40" name="Shape 38"/>
          <p:cNvSpPr/>
          <p:nvPr/>
        </p:nvSpPr>
        <p:spPr>
          <a:xfrm>
            <a:off x="2651760" y="2944368"/>
            <a:ext cx="54864" cy="7315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1" name="Text 39"/>
          <p:cNvSpPr/>
          <p:nvPr/>
        </p:nvSpPr>
        <p:spPr>
          <a:xfrm>
            <a:off x="2788920" y="29992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788920" y="3310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s[2], s[6]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983480" y="3310128"/>
            <a:ext cx="457200" cy="0"/>
          </a:xfrm>
          <a:prstGeom prst="line">
            <a:avLst/>
          </a:prstGeom>
          <a:noFill/>
          <a:ln w="19050">
            <a:solidFill>
              <a:srgbClr val="444C5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4" name="Shape 42"/>
          <p:cNvSpPr/>
          <p:nvPr/>
        </p:nvSpPr>
        <p:spPr>
          <a:xfrm>
            <a:off x="5440680" y="3035808"/>
            <a:ext cx="1554480" cy="548640"/>
          </a:xfrm>
          <a:prstGeom prst="rect">
            <a:avLst/>
          </a:prstGeom>
          <a:solidFill>
            <a:srgbClr val="161B22"/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45" name="Text 43"/>
          <p:cNvSpPr/>
          <p:nvPr/>
        </p:nvSpPr>
        <p:spPr>
          <a:xfrm>
            <a:off x="5440680" y="30358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process_img()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651760" y="3858768"/>
            <a:ext cx="2331720" cy="731520"/>
          </a:xfrm>
          <a:prstGeom prst="rect">
            <a:avLst/>
          </a:prstGeom>
          <a:solidFill>
            <a:srgbClr val="161B22"/>
          </a:solidFill>
          <a:ln w="19050">
            <a:solidFill>
              <a:srgbClr val="4ADE8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47" name="Shape 45"/>
          <p:cNvSpPr/>
          <p:nvPr/>
        </p:nvSpPr>
        <p:spPr>
          <a:xfrm>
            <a:off x="2651760" y="3858768"/>
            <a:ext cx="54864" cy="7315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8" name="Text 46"/>
          <p:cNvSpPr/>
          <p:nvPr/>
        </p:nvSpPr>
        <p:spPr>
          <a:xfrm>
            <a:off x="2788920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3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2788920" y="42245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s[3], s[7]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983480" y="4224528"/>
            <a:ext cx="457200" cy="0"/>
          </a:xfrm>
          <a:prstGeom prst="line">
            <a:avLst/>
          </a:prstGeom>
          <a:noFill/>
          <a:ln w="19050">
            <a:solidFill>
              <a:srgbClr val="444C5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1" name="Shape 49"/>
          <p:cNvSpPr/>
          <p:nvPr/>
        </p:nvSpPr>
        <p:spPr>
          <a:xfrm>
            <a:off x="5440680" y="3950208"/>
            <a:ext cx="1554480" cy="548640"/>
          </a:xfrm>
          <a:prstGeom prst="rect">
            <a:avLst/>
          </a:prstGeom>
          <a:solidFill>
            <a:srgbClr val="161B22"/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52" name="Text 50"/>
          <p:cNvSpPr/>
          <p:nvPr/>
        </p:nvSpPr>
        <p:spPr>
          <a:xfrm>
            <a:off x="5440680" y="39502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process_img()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7223760" y="1115568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Ways to Implement MIMD: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7178040" y="1508760"/>
            <a:ext cx="1691640" cy="868680"/>
          </a:xfrm>
          <a:prstGeom prst="rect">
            <a:avLst/>
          </a:prstGeom>
          <a:solidFill>
            <a:srgbClr val="161B22"/>
          </a:solidFill>
          <a:ln w="19050">
            <a:solidFill>
              <a:srgbClr val="3B82F6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55" name="Shape 53"/>
          <p:cNvSpPr/>
          <p:nvPr/>
        </p:nvSpPr>
        <p:spPr>
          <a:xfrm>
            <a:off x="7178040" y="1508760"/>
            <a:ext cx="54864" cy="86868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56" name="Text 54"/>
          <p:cNvSpPr/>
          <p:nvPr/>
        </p:nvSpPr>
        <p:spPr>
          <a:xfrm>
            <a:off x="7315200" y="15361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7315200" y="181051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multiprocessing.Pool — separate OS processes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178040" y="2560320"/>
            <a:ext cx="1691640" cy="868680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59" name="Shape 57"/>
          <p:cNvSpPr/>
          <p:nvPr/>
        </p:nvSpPr>
        <p:spPr>
          <a:xfrm>
            <a:off x="7178040" y="2560320"/>
            <a:ext cx="54864" cy="868680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60" name="Text 58"/>
          <p:cNvSpPr/>
          <p:nvPr/>
        </p:nvSpPr>
        <p:spPr>
          <a:xfrm>
            <a:off x="7315200" y="258775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7315200" y="286207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 — shared memory, same machine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7178040" y="3611880"/>
            <a:ext cx="1691640" cy="868680"/>
          </a:xfrm>
          <a:prstGeom prst="rect">
            <a:avLst/>
          </a:prstGeom>
          <a:solidFill>
            <a:srgbClr val="161B22"/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63" name="Shape 61"/>
          <p:cNvSpPr/>
          <p:nvPr/>
        </p:nvSpPr>
        <p:spPr>
          <a:xfrm>
            <a:off x="7178040" y="3611880"/>
            <a:ext cx="54864" cy="86868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64" name="Text 62"/>
          <p:cNvSpPr/>
          <p:nvPr/>
        </p:nvSpPr>
        <p:spPr>
          <a:xfrm>
            <a:off x="7315200" y="363931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7315200" y="3913632"/>
            <a:ext cx="1463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 — distributed memory, many machines</a:t>
            </a:r>
            <a:endParaRPr lang="en-US" sz="950" dirty="0"/>
          </a:p>
        </p:txBody>
      </p:sp>
      <p:sp>
        <p:nvSpPr>
          <p:cNvPr id="66" name="Shape 22">
            <a:extLst>
              <a:ext uri="{FF2B5EF4-FFF2-40B4-BE49-F238E27FC236}">
                <a16:creationId xmlns:a16="http://schemas.microsoft.com/office/drawing/2014/main" id="{49DF7995-00B0-526A-B35D-8FE7651173D0}"/>
              </a:ext>
            </a:extLst>
          </p:cNvPr>
          <p:cNvSpPr/>
          <p:nvPr/>
        </p:nvSpPr>
        <p:spPr>
          <a:xfrm flipV="1">
            <a:off x="2468880" y="1471297"/>
            <a:ext cx="0" cy="280800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68" name="Shape 22">
            <a:extLst>
              <a:ext uri="{FF2B5EF4-FFF2-40B4-BE49-F238E27FC236}">
                <a16:creationId xmlns:a16="http://schemas.microsoft.com/office/drawing/2014/main" id="{0226C5AE-6365-78FF-1270-919B1689593A}"/>
              </a:ext>
            </a:extLst>
          </p:cNvPr>
          <p:cNvSpPr/>
          <p:nvPr/>
        </p:nvSpPr>
        <p:spPr>
          <a:xfrm flipV="1">
            <a:off x="2459048" y="1481131"/>
            <a:ext cx="1800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69" name="Shape 22">
            <a:extLst>
              <a:ext uri="{FF2B5EF4-FFF2-40B4-BE49-F238E27FC236}">
                <a16:creationId xmlns:a16="http://schemas.microsoft.com/office/drawing/2014/main" id="{23BFB6CC-B5ED-F808-385C-A719642F054C}"/>
              </a:ext>
            </a:extLst>
          </p:cNvPr>
          <p:cNvSpPr/>
          <p:nvPr/>
        </p:nvSpPr>
        <p:spPr>
          <a:xfrm flipV="1">
            <a:off x="2463962" y="2469273"/>
            <a:ext cx="1800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70" name="Shape 22">
            <a:extLst>
              <a:ext uri="{FF2B5EF4-FFF2-40B4-BE49-F238E27FC236}">
                <a16:creationId xmlns:a16="http://schemas.microsoft.com/office/drawing/2014/main" id="{A6E49D39-5DE6-1C3B-1216-F2A384FBB347}"/>
              </a:ext>
            </a:extLst>
          </p:cNvPr>
          <p:cNvSpPr/>
          <p:nvPr/>
        </p:nvSpPr>
        <p:spPr>
          <a:xfrm flipV="1">
            <a:off x="2463963" y="4268580"/>
            <a:ext cx="1800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71" name="Shape 22">
            <a:extLst>
              <a:ext uri="{FF2B5EF4-FFF2-40B4-BE49-F238E27FC236}">
                <a16:creationId xmlns:a16="http://schemas.microsoft.com/office/drawing/2014/main" id="{D1835177-B219-0E25-3FF3-7373CE843283}"/>
              </a:ext>
            </a:extLst>
          </p:cNvPr>
          <p:cNvSpPr/>
          <p:nvPr/>
        </p:nvSpPr>
        <p:spPr>
          <a:xfrm flipV="1">
            <a:off x="2463967" y="3285352"/>
            <a:ext cx="180000" cy="0"/>
          </a:xfrm>
          <a:prstGeom prst="line">
            <a:avLst/>
          </a:prstGeom>
          <a:noFill/>
          <a:ln w="254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6" grpId="0" animBg="1"/>
      <p:bldP spid="68" grpId="0" animBg="1"/>
      <p:bldP spid="69" grpId="0" animBg="1"/>
      <p:bldP spid="70" grpId="0" animBg="1"/>
      <p:bldP spid="7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MIMD — Python Multiprocessing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680960" y="22860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" name="Text 2"/>
          <p:cNvSpPr/>
          <p:nvPr/>
        </p:nvSpPr>
        <p:spPr>
          <a:xfrm>
            <a:off x="7680960" y="228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Bypasses the GIL by spawning separate OS processes — each with its own memory space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5029200" cy="3246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7" name="Shape 5"/>
          <p:cNvSpPr/>
          <p:nvPr/>
        </p:nvSpPr>
        <p:spPr>
          <a:xfrm>
            <a:off x="4023360" y="1261872"/>
            <a:ext cx="128016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6"/>
          <p:cNvSpPr/>
          <p:nvPr/>
        </p:nvSpPr>
        <p:spPr>
          <a:xfrm>
            <a:off x="4023360" y="12710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— multiprocessing.Pool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554480"/>
            <a:ext cx="4736592" cy="2862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multiprocessing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process_img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(image, data):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your logic here ...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process_sample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(sample):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Each worker process calls this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image, data = sample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process_img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(image, data)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Spawn one process per CPU core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 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(processes=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 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pool: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results = pool.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process_sample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samples)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pool.map() blocks until ALL samples done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then returns results in order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532120" y="1261872"/>
            <a:ext cx="3337560" cy="1024128"/>
          </a:xfrm>
          <a:prstGeom prst="rect">
            <a:avLst/>
          </a:prstGeom>
          <a:solidFill>
            <a:srgbClr val="161B22"/>
          </a:solidFill>
          <a:ln w="19050">
            <a:solidFill>
              <a:srgbClr val="F87171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11" name="Shape 9"/>
          <p:cNvSpPr/>
          <p:nvPr/>
        </p:nvSpPr>
        <p:spPr>
          <a:xfrm>
            <a:off x="5532120" y="1261872"/>
            <a:ext cx="54864" cy="1024128"/>
          </a:xfrm>
          <a:prstGeom prst="rect">
            <a:avLst/>
          </a:prstGeom>
          <a:solidFill>
            <a:srgbClr val="F87171"/>
          </a:solidFill>
          <a:ln w="12700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2" name="Text 10"/>
          <p:cNvSpPr/>
          <p:nvPr/>
        </p:nvSpPr>
        <p:spPr>
          <a:xfrm>
            <a:off x="5687568" y="1307592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8717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not threading?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687568" y="1627632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GIL (Global Interpreter Lock) prevents true parallel execution of Python threads. Multiprocessing sidesteps this by using separate processes.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32120" y="2377440"/>
            <a:ext cx="3337560" cy="1024128"/>
          </a:xfrm>
          <a:prstGeom prst="rect">
            <a:avLst/>
          </a:prstGeom>
          <a:solidFill>
            <a:srgbClr val="161B22"/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15" name="Shape 13"/>
          <p:cNvSpPr/>
          <p:nvPr/>
        </p:nvSpPr>
        <p:spPr>
          <a:xfrm>
            <a:off x="5532120" y="2377440"/>
            <a:ext cx="54864" cy="102412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6" name="Text 14"/>
          <p:cNvSpPr/>
          <p:nvPr/>
        </p:nvSpPr>
        <p:spPr>
          <a:xfrm>
            <a:off x="5687568" y="2423160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pool.map()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687568" y="274320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distributes list items across workers and collects results. Equivalent to a parallel for-loop.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532120" y="3493008"/>
            <a:ext cx="3337560" cy="1024128"/>
          </a:xfrm>
          <a:prstGeom prst="rect">
            <a:avLst/>
          </a:prstGeom>
          <a:solidFill>
            <a:srgbClr val="161B22"/>
          </a:solidFill>
          <a:ln w="19050">
            <a:solidFill>
              <a:srgbClr val="FACC15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19" name="Shape 17"/>
          <p:cNvSpPr/>
          <p:nvPr/>
        </p:nvSpPr>
        <p:spPr>
          <a:xfrm>
            <a:off x="5532120" y="3493008"/>
            <a:ext cx="54864" cy="1024128"/>
          </a:xfrm>
          <a:prstGeom prst="rect">
            <a:avLst/>
          </a:prstGeom>
          <a:solidFill>
            <a:srgbClr val="FACC15"/>
          </a:solidFill>
          <a:ln w="12700">
            <a:solidFill>
              <a:srgbClr val="FACC15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0" name="Text 18"/>
          <p:cNvSpPr/>
          <p:nvPr/>
        </p:nvSpPr>
        <p:spPr>
          <a:xfrm>
            <a:off x="5687568" y="3538728"/>
            <a:ext cx="3063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ACC1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Overhead warning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687568" y="3858768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startup has cost. Only faster than sequential when each task takes significant time (e.g. image processing ✓).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645152"/>
            <a:ext cx="8595360" cy="347472"/>
          </a:xfrm>
          <a:prstGeom prst="rect">
            <a:avLst/>
          </a:prstGeom>
          <a:solidFill>
            <a:srgbClr val="161B22"/>
          </a:solidFill>
          <a:ln w="19050">
            <a:solidFill>
              <a:srgbClr val="21262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23" name="Text 21"/>
          <p:cNvSpPr/>
          <p:nvPr/>
        </p:nvSpPr>
        <p:spPr>
          <a:xfrm>
            <a:off x="457200" y="468172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Model: </a:t>
            </a: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process has its own copy of </a:t>
            </a:r>
            <a:r>
              <a:rPr lang="en-US" sz="1200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samples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MIMD — C++ Sequential → OpenMP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680960" y="22860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" name="Text 2"/>
          <p:cNvSpPr/>
          <p:nvPr/>
        </p:nvSpPr>
        <p:spPr>
          <a:xfrm>
            <a:off x="7680960" y="228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pragma line transforms a sequential loop into a parallel one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4160520" cy="3035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7" name="Shape 5"/>
          <p:cNvSpPr/>
          <p:nvPr/>
        </p:nvSpPr>
        <p:spPr>
          <a:xfrm>
            <a:off x="3154680" y="1261872"/>
            <a:ext cx="128016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6"/>
          <p:cNvSpPr/>
          <p:nvPr/>
        </p:nvSpPr>
        <p:spPr>
          <a:xfrm>
            <a:off x="3154680" y="12710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— Sequential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554480"/>
            <a:ext cx="38679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C++ — Sequential (SISD baseline)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process_img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(Image&amp; img, Data&amp; data) {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your logic here ...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&amp; sample : samples)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process_img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(sample.image, </a:t>
            </a:r>
            <a:r>
              <a:rPr lang="en-US" sz="11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sample.data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Compile: g++ -O2 -o app main.cpp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1261872"/>
            <a:ext cx="4160520" cy="3035808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11" name="Shape 9"/>
          <p:cNvSpPr/>
          <p:nvPr/>
        </p:nvSpPr>
        <p:spPr>
          <a:xfrm>
            <a:off x="7589520" y="1261872"/>
            <a:ext cx="128016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2" name="Text 10"/>
          <p:cNvSpPr/>
          <p:nvPr/>
        </p:nvSpPr>
        <p:spPr>
          <a:xfrm>
            <a:off x="7589520" y="12710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— OpenMP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73752" y="1554480"/>
            <a:ext cx="3867912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C++ — OpenMP (MIMD, shared memory)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process_img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(Image&amp; img, Data&amp; data)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... your logic here ...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r>
              <a:rPr lang="en-US" sz="115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↓ This ONE line parallelises the loop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#pragma omp parallel for schedule(dynamic)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 i&lt;samples.size(); i++)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process_img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(samples[i].image, samples[i].data);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Compile: g++ -O2 -fopenmp -o app </a:t>
            </a:r>
            <a:r>
              <a:rPr lang="en-US" sz="1150" dirty="0" err="1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main.cpp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Threads: OMP_NUM_THREADS=8 ./app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279392" y="2464308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4ADE80"/>
                </a:solidFill>
              </a:rPr>
              <a:t>➜</a:t>
            </a:r>
            <a:endParaRPr lang="en-US" sz="2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MIMD — C++ with MPI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680960" y="228600"/>
            <a:ext cx="1097280" cy="292608"/>
          </a:xfrm>
          <a:prstGeom prst="roundRect">
            <a:avLst>
              <a:gd name="adj" fmla="val 25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" name="Text 2"/>
          <p:cNvSpPr/>
          <p:nvPr/>
        </p:nvSpPr>
        <p:spPr>
          <a:xfrm>
            <a:off x="7680960" y="228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7772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OpenMP, MPI processes run on SEPARATE MACHINES — each rank has its own memory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274320" y="1261872"/>
            <a:ext cx="5029200" cy="361188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7" name="Shape 5"/>
          <p:cNvSpPr/>
          <p:nvPr/>
        </p:nvSpPr>
        <p:spPr>
          <a:xfrm>
            <a:off x="4023360" y="1261872"/>
            <a:ext cx="1280160" cy="256032"/>
          </a:xfrm>
          <a:prstGeom prst="rect">
            <a:avLst/>
          </a:prstGeom>
          <a:solidFill>
            <a:srgbClr val="21262D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6"/>
          <p:cNvSpPr/>
          <p:nvPr/>
        </p:nvSpPr>
        <p:spPr>
          <a:xfrm>
            <a:off x="4023360" y="1271016"/>
            <a:ext cx="1280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C++ — MPI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38912" y="1554480"/>
            <a:ext cx="4736592" cy="32278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1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mpi.h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</a:t>
            </a:r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argc,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** argv)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MPI_Init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(&amp;argc, &amp;</a:t>
            </a:r>
            <a:r>
              <a:rPr lang="en-US" sz="1150" dirty="0" err="1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argv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rank, size;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MPI_Comm_rank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(MPI_COMM_WORLD, &amp;rank); </a:t>
            </a: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//process’s ID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MPI_Comm_size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(MPI_COMM_WORLD, &amp;size); </a:t>
            </a: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//processes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Each rank handles its own chunk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15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i=rank; i&lt;samples.size(); i+=size) {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process_img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(samples[i].image, samples[i].data);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Gather results to rank 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MPI_Gather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(local, n, MPI_FLOAT, all, n,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MPI_FLOAT, </a:t>
            </a:r>
            <a:r>
              <a:rPr lang="en-US" sz="1150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MPI_COMM_WORLD);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150" dirty="0" err="1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MPI_Finalize</a:t>
            </a: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532120" y="1261872"/>
            <a:ext cx="3337560" cy="3611880"/>
          </a:xfrm>
          <a:prstGeom prst="rect">
            <a:avLst/>
          </a:prstGeom>
          <a:solidFill>
            <a:srgbClr val="161B22"/>
          </a:solidFill>
          <a:ln w="19050">
            <a:solidFill>
              <a:srgbClr val="21262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11" name="Text 9"/>
          <p:cNvSpPr/>
          <p:nvPr/>
        </p:nvSpPr>
        <p:spPr>
          <a:xfrm>
            <a:off x="5623560" y="132588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OpenMP  vs  MPI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532120" y="1719072"/>
            <a:ext cx="3337560" cy="292608"/>
          </a:xfrm>
          <a:prstGeom prst="rect">
            <a:avLst/>
          </a:prstGeom>
          <a:solidFill>
            <a:srgbClr val="1C2B3A"/>
          </a:solidFill>
          <a:ln w="1270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3" name="Text 11"/>
          <p:cNvSpPr/>
          <p:nvPr/>
        </p:nvSpPr>
        <p:spPr>
          <a:xfrm>
            <a:off x="5623560" y="1737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75120" y="173736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OpenMP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635240" y="173736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532120" y="2057400"/>
            <a:ext cx="3337560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7" name="Text 15"/>
          <p:cNvSpPr/>
          <p:nvPr/>
        </p:nvSpPr>
        <p:spPr>
          <a:xfrm>
            <a:off x="5623560" y="21031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675120" y="2103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35240" y="21031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32120" y="2450592"/>
            <a:ext cx="333756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1" name="Text 19"/>
          <p:cNvSpPr/>
          <p:nvPr/>
        </p:nvSpPr>
        <p:spPr>
          <a:xfrm>
            <a:off x="5623560" y="2496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675120" y="24963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machine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635240" y="249631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machines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532120" y="2843784"/>
            <a:ext cx="3337560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5" name="Text 23"/>
          <p:cNvSpPr/>
          <p:nvPr/>
        </p:nvSpPr>
        <p:spPr>
          <a:xfrm>
            <a:off x="5623560" y="28895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675120" y="288950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#pragma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35240" y="288950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MPI_Init/Comm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532120" y="3236976"/>
            <a:ext cx="333756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9" name="Text 27"/>
          <p:cNvSpPr/>
          <p:nvPr/>
        </p:nvSpPr>
        <p:spPr>
          <a:xfrm>
            <a:off x="5623560" y="32826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75120" y="328269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~100 cores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635240" y="32826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100k+ cores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532120" y="3630168"/>
            <a:ext cx="3337560" cy="365760"/>
          </a:xfrm>
          <a:prstGeom prst="rect">
            <a:avLst/>
          </a:prstGeom>
          <a:solidFill>
            <a:srgbClr val="161B22"/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3" name="Text 31"/>
          <p:cNvSpPr/>
          <p:nvPr/>
        </p:nvSpPr>
        <p:spPr>
          <a:xfrm>
            <a:off x="5623560" y="36758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pass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675120" y="36758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635240" y="36758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send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532120" y="4023360"/>
            <a:ext cx="3337560" cy="365760"/>
          </a:xfrm>
          <a:prstGeom prst="rect">
            <a:avLst/>
          </a:prstGeom>
          <a:solidFill>
            <a:srgbClr val="0D1117"/>
          </a:solidFill>
          <a:ln w="6350">
            <a:solidFill>
              <a:srgbClr val="21262D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7" name="Text 35"/>
          <p:cNvSpPr/>
          <p:nvPr/>
        </p:nvSpPr>
        <p:spPr>
          <a:xfrm>
            <a:off x="5623560" y="4069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675120" y="40690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Workstation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635240" y="4069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cluster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532120" y="4526280"/>
            <a:ext cx="3337560" cy="566928"/>
          </a:xfrm>
          <a:prstGeom prst="rect">
            <a:avLst/>
          </a:prstGeom>
          <a:solidFill>
            <a:srgbClr val="161B22"/>
          </a:solidFill>
          <a:ln w="19050">
            <a:solidFill>
              <a:srgbClr val="21262D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41" name="Text 39"/>
          <p:cNvSpPr/>
          <p:nvPr/>
        </p:nvSpPr>
        <p:spPr>
          <a:xfrm>
            <a:off x="5669280" y="457200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mpic++ -O2 -o app main.cpp
</a:t>
            </a:r>
            <a:r>
              <a:rPr lang="en-US" sz="1050" dirty="0">
                <a:solidFill>
                  <a:srgbClr val="4ADE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mpirun -np 32 ./app</a:t>
            </a:r>
            <a:endParaRPr lang="en-US" sz="10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isContent="1"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0F6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— Which Tool, When?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987552"/>
            <a:ext cx="8595360" cy="704088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6" name="Shape 4"/>
          <p:cNvSpPr/>
          <p:nvPr/>
        </p:nvSpPr>
        <p:spPr>
          <a:xfrm>
            <a:off x="274320" y="987552"/>
            <a:ext cx="54864" cy="70408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7" name="Shape 5"/>
          <p:cNvSpPr/>
          <p:nvPr/>
        </p:nvSpPr>
        <p:spPr>
          <a:xfrm>
            <a:off x="457200" y="1188720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8" name="Text 6"/>
          <p:cNvSpPr/>
          <p:nvPr/>
        </p:nvSpPr>
        <p:spPr>
          <a:xfrm>
            <a:off x="457200" y="1188720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060704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(sequential)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08760" y="13898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Baseline. Simple, debuggable.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783080"/>
            <a:ext cx="8595360" cy="704088"/>
          </a:xfrm>
          <a:prstGeom prst="rect">
            <a:avLst/>
          </a:prstGeom>
          <a:solidFill>
            <a:srgbClr val="161B22"/>
          </a:solidFill>
          <a:ln w="19050">
            <a:solidFill>
              <a:srgbClr val="3B82F6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15" name="Shape 13"/>
          <p:cNvSpPr/>
          <p:nvPr/>
        </p:nvSpPr>
        <p:spPr>
          <a:xfrm>
            <a:off x="274320" y="1783080"/>
            <a:ext cx="54864" cy="70408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6" name="Shape 14"/>
          <p:cNvSpPr/>
          <p:nvPr/>
        </p:nvSpPr>
        <p:spPr>
          <a:xfrm>
            <a:off x="457200" y="1984248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17" name="Text 15"/>
          <p:cNvSpPr/>
          <p:nvPr/>
        </p:nvSpPr>
        <p:spPr>
          <a:xfrm>
            <a:off x="457200" y="198424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08760" y="185623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 (multiprocessing)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508760" y="21854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win. Limited by process overhead &amp; GIL.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2578608"/>
            <a:ext cx="8595360" cy="704088"/>
          </a:xfrm>
          <a:prstGeom prst="rect">
            <a:avLst/>
          </a:prstGeom>
          <a:solidFill>
            <a:srgbClr val="161B22"/>
          </a:solidFill>
          <a:ln w="19050">
            <a:solidFill>
              <a:srgbClr val="8B949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24" name="Shape 22"/>
          <p:cNvSpPr/>
          <p:nvPr/>
        </p:nvSpPr>
        <p:spPr>
          <a:xfrm>
            <a:off x="274320" y="2578608"/>
            <a:ext cx="54864" cy="704088"/>
          </a:xfrm>
          <a:prstGeom prst="rect">
            <a:avLst/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5" name="Shape 23"/>
          <p:cNvSpPr/>
          <p:nvPr/>
        </p:nvSpPr>
        <p:spPr>
          <a:xfrm>
            <a:off x="457200" y="2779776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8B949E"/>
          </a:solidFill>
          <a:ln w="12700">
            <a:solidFill>
              <a:srgbClr val="8B949E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26" name="Text 24"/>
          <p:cNvSpPr/>
          <p:nvPr/>
        </p:nvSpPr>
        <p:spPr>
          <a:xfrm>
            <a:off x="457200" y="277977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0876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 (sequential)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508760" y="29809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speed. No parallelism needed.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74320" y="3374136"/>
            <a:ext cx="8595360" cy="704088"/>
          </a:xfrm>
          <a:prstGeom prst="rect">
            <a:avLst/>
          </a:prstGeom>
          <a:solidFill>
            <a:srgbClr val="161B22"/>
          </a:solidFill>
          <a:ln w="19050">
            <a:solidFill>
              <a:srgbClr val="4ADE80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33" name="Shape 31"/>
          <p:cNvSpPr/>
          <p:nvPr/>
        </p:nvSpPr>
        <p:spPr>
          <a:xfrm>
            <a:off x="274320" y="3374136"/>
            <a:ext cx="54864" cy="704088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4" name="Shape 32"/>
          <p:cNvSpPr/>
          <p:nvPr/>
        </p:nvSpPr>
        <p:spPr>
          <a:xfrm>
            <a:off x="457200" y="3575304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35" name="Text 33"/>
          <p:cNvSpPr/>
          <p:nvPr/>
        </p:nvSpPr>
        <p:spPr>
          <a:xfrm>
            <a:off x="457200" y="3575304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508760" y="344728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+ OpenMP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508760" y="37764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single-machine throughput.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74320" y="4169664"/>
            <a:ext cx="8595360" cy="704088"/>
          </a:xfrm>
          <a:prstGeom prst="rect">
            <a:avLst/>
          </a:prstGeom>
          <a:solidFill>
            <a:srgbClr val="161B22"/>
          </a:solidFill>
          <a:ln w="19050">
            <a:solidFill>
              <a:srgbClr val="22D3EE"/>
            </a:solidFill>
            <a:prstDash val="solid"/>
          </a:ln>
          <a:effectLst>
            <a:outerShdw blurRad="152400" dist="38100" dir="8100000" algn="bl" rotWithShape="0">
              <a:srgbClr val="000000">
                <a:alpha val="40000"/>
              </a:srgbClr>
            </a:outerShdw>
          </a:effectLst>
        </p:spPr>
        <p:txBody>
          <a:bodyPr/>
          <a:lstStyle/>
          <a:p>
            <a:endParaRPr lang="en-NO"/>
          </a:p>
        </p:txBody>
      </p:sp>
      <p:sp>
        <p:nvSpPr>
          <p:cNvPr id="42" name="Shape 40"/>
          <p:cNvSpPr/>
          <p:nvPr/>
        </p:nvSpPr>
        <p:spPr>
          <a:xfrm>
            <a:off x="274320" y="4169664"/>
            <a:ext cx="54864" cy="704088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3" name="Shape 41"/>
          <p:cNvSpPr/>
          <p:nvPr/>
        </p:nvSpPr>
        <p:spPr>
          <a:xfrm>
            <a:off x="457200" y="4370832"/>
            <a:ext cx="914400" cy="292608"/>
          </a:xfrm>
          <a:prstGeom prst="roundRect">
            <a:avLst>
              <a:gd name="adj" fmla="val 25000"/>
            </a:avLst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NO"/>
          </a:p>
        </p:txBody>
      </p:sp>
      <p:sp>
        <p:nvSpPr>
          <p:cNvPr id="44" name="Text 42"/>
          <p:cNvSpPr/>
          <p:nvPr/>
        </p:nvSpPr>
        <p:spPr>
          <a:xfrm>
            <a:off x="457200" y="43708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MIMD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508760" y="4242816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F6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+ MPI 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508760" y="457200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HPC clusters. Scales to any size.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prism isContent="1" isInverted="1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1323</Words>
  <Application>Microsoft Macintosh PowerPoint</Application>
  <PresentationFormat>On-screen Show (16:9)</PresentationFormat>
  <Paragraphs>249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Parallel Computing: Flynn's Taxonomy</dc:title>
  <dc:subject>PptxGenJS Presentation</dc:subject>
  <dc:creator>PptxGenJS</dc:creator>
  <cp:lastModifiedBy>Youssef Wally</cp:lastModifiedBy>
  <cp:revision>7</cp:revision>
  <dcterms:created xsi:type="dcterms:W3CDTF">2026-03-06T19:42:45Z</dcterms:created>
  <dcterms:modified xsi:type="dcterms:W3CDTF">2026-03-06T20:37:55Z</dcterms:modified>
</cp:coreProperties>
</file>